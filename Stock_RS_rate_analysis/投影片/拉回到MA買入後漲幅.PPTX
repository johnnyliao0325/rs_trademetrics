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1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12E8D5-2BBA-7270-2935-BAA37B649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7E91BB1-971C-4CFF-4C3B-FA6809F50D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64C5A8-5ACC-37DD-F214-77540C445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A261F-E3F0-4EC3-B32F-327F959171FD}" type="datetimeFigureOut">
              <a:rPr lang="zh-TW" altLang="en-US" smtClean="0"/>
              <a:t>2024/12/3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0A2F7A-842A-650C-381A-EF9988296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DDF4AE8-D1B7-7575-E3F1-8B8486A74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B5AC6-E41B-42EA-898C-DCB67C96369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0067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C23F0C-B07A-2778-058E-87E725900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C212E1-2AD8-4DAF-9CDA-A7609288E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C5EE3D7-860A-A9C4-576D-CE168FE5E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A261F-E3F0-4EC3-B32F-327F959171FD}" type="datetimeFigureOut">
              <a:rPr lang="zh-TW" altLang="en-US" smtClean="0"/>
              <a:t>2024/12/3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26FBA5-EDC7-0F94-02AC-475CB7A05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7464AB-9D9B-3DB3-4C7D-FD926381B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B5AC6-E41B-42EA-898C-DCB67C96369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0425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299FD9-4C58-3C3A-6980-0464319F1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A57AD94-7FB9-E189-147F-7450C52BB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966802-BA52-24D7-EC5B-6F2FDB1BD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A261F-E3F0-4EC3-B32F-327F959171FD}" type="datetimeFigureOut">
              <a:rPr lang="zh-TW" altLang="en-US" smtClean="0"/>
              <a:t>2024/12/3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4959CD-E487-5C9B-7D1F-A48C56715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3FE3EAA-CD03-585F-CBBA-C9D04C712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B5AC6-E41B-42EA-898C-DCB67C96369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7299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36E13E-F0CD-EAFF-7FB0-414006ACB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1AD5FE-13E8-961E-4037-9C57E5AD47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C0DDFB8-8EFD-A593-CF59-25F697F8C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300F4AF-F5A7-A9B1-9CFE-97A34D2CC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A261F-E3F0-4EC3-B32F-327F959171FD}" type="datetimeFigureOut">
              <a:rPr lang="zh-TW" altLang="en-US" smtClean="0"/>
              <a:t>2024/12/3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CF549A9-83CB-06E9-C342-0945983BD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CBE0FB-E22F-26CA-7289-2963568BF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B5AC6-E41B-42EA-898C-DCB67C96369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5653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DFFE44-EC32-F49C-1203-E669B1494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BB11631-3773-D14F-07C2-D9E424848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496DCDB-E1CB-3D86-50C3-3D4BBBB52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623A332-7BBB-E11B-9E0A-3F74A8214E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419F2C7-9DA8-D9E6-905B-04479006FD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E844C19-99D4-7018-6823-C0CB69E6D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A261F-E3F0-4EC3-B32F-327F959171FD}" type="datetimeFigureOut">
              <a:rPr lang="zh-TW" altLang="en-US" smtClean="0"/>
              <a:t>2024/12/3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8CF4949-9037-926A-B17B-F0629D1CD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47A9ECB-94AF-0D91-1CA0-D5ED6657A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B5AC6-E41B-42EA-898C-DCB67C96369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1583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225B2D-4661-5080-DCB0-B1FC498C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531455B-46F5-31E3-3CEB-EE5BB832C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A261F-E3F0-4EC3-B32F-327F959171FD}" type="datetimeFigureOut">
              <a:rPr lang="zh-TW" altLang="en-US" smtClean="0"/>
              <a:t>2024/12/3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B6E86AA-BD4D-028E-A5C3-9D4207575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C508A18-B03B-192C-B4D1-0100A5C85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B5AC6-E41B-42EA-898C-DCB67C96369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7230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247DD71-5CBB-9611-BCEC-B04FD9C96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A261F-E3F0-4EC3-B32F-327F959171FD}" type="datetimeFigureOut">
              <a:rPr lang="zh-TW" altLang="en-US" smtClean="0"/>
              <a:t>2024/12/3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1938897-63DB-AD36-BB10-7579945EE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66AA0C-91E8-50F7-07EB-224539CA7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B5AC6-E41B-42EA-898C-DCB67C96369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3429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1D8104-2880-BFC7-DBE7-DD816BF20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508D31-F4C3-CB2D-733F-73A6DDD1F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6461C4C-0604-5442-7496-D539EE5698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3330483-9246-3162-06F3-DB96679EF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A261F-E3F0-4EC3-B32F-327F959171FD}" type="datetimeFigureOut">
              <a:rPr lang="zh-TW" altLang="en-US" smtClean="0"/>
              <a:t>2024/12/3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A05234B-DB8E-BBC5-B937-554D21B5A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A2230E7-F103-3287-B7ED-CC3FAB37D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B5AC6-E41B-42EA-898C-DCB67C96369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824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FC9FF2-D0C5-C206-6B6D-611B59206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FA2EABF-CAEB-0D63-0C84-93F068996A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E88DEF1-49E0-1A61-8C3F-0012AF11B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71033D4-76FC-0795-E545-F191DC9BC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A261F-E3F0-4EC3-B32F-327F959171FD}" type="datetimeFigureOut">
              <a:rPr lang="zh-TW" altLang="en-US" smtClean="0"/>
              <a:t>2024/12/3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E4DD398-8EA5-0771-0E3B-7536CBAD0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5DA2FD0-4C9F-78C3-A57E-4802CD635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B5AC6-E41B-42EA-898C-DCB67C96369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6463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285871-477E-3BE9-6EAC-54980D711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141CFF1-3814-FE79-358C-7DDEC9DE8E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58F4CE1-2CC7-87C7-E923-DCC0B9413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A261F-E3F0-4EC3-B32F-327F959171FD}" type="datetimeFigureOut">
              <a:rPr lang="zh-TW" altLang="en-US" smtClean="0"/>
              <a:t>2024/12/3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4E186B-596D-9F99-B097-992A12FDE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89896CC-F03C-49CF-C81E-ED81DB878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B5AC6-E41B-42EA-898C-DCB67C96369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477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8432D78-0581-78FD-1554-DD3A73337C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57B9970-5868-EF12-9897-F9C56E650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401431-37B4-BEF8-D2DF-5C755090A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A261F-E3F0-4EC3-B32F-327F959171FD}" type="datetimeFigureOut">
              <a:rPr lang="zh-TW" altLang="en-US" smtClean="0"/>
              <a:t>2024/12/3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22806C-DE1E-00C9-FB9C-9ABA4D699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9F97836-ED7C-0D7D-3D90-40F9D01FB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B5AC6-E41B-42EA-898C-DCB67C96369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7553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4343A44-CA2B-54BD-89E8-A067DF31A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C3E90FB-9490-CBF4-3FF4-F8ECF841F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394B1D-2ADE-5BDE-99DA-C8715F38C0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A261F-E3F0-4EC3-B32F-327F959171FD}" type="datetimeFigureOut">
              <a:rPr lang="zh-TW" altLang="en-US" smtClean="0"/>
              <a:t>2024/12/3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9960AF8-62C3-B282-B274-7482E325FB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F2DE8C2-96EA-58FF-5D0C-A9AF57485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9B5AC6-E41B-42EA-898C-DCB67C96369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2004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218B94B-FA43-1B5E-5E53-C9914AD9BF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094142"/>
              </p:ext>
            </p:extLst>
          </p:nvPr>
        </p:nvGraphicFramePr>
        <p:xfrm>
          <a:off x="1163781" y="2310535"/>
          <a:ext cx="9652650" cy="2735009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965265">
                  <a:extLst>
                    <a:ext uri="{9D8B030D-6E8A-4147-A177-3AD203B41FA5}">
                      <a16:colId xmlns:a16="http://schemas.microsoft.com/office/drawing/2014/main" val="544998116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4000650120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4235922986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1713872374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677930697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649905291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1680225170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058208633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3372939430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823910701"/>
                    </a:ext>
                  </a:extLst>
                </a:gridCol>
              </a:tblGrid>
              <a:tr h="1007869">
                <a:tc>
                  <a:txBody>
                    <a:bodyPr/>
                    <a:lstStyle/>
                    <a:p>
                      <a:pPr algn="r" fontAlgn="ctr"/>
                      <a:endParaRPr lang="en-US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effectLst/>
                        </a:rPr>
                        <a:t>mean ROCP after 10 Days with high RS_10~20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mean ROCP after 10 Days with high RS_20~30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mean ROCP after 10 Days with high RS_30~40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mean ROCP after 10 Days with high RS_40~50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mean ROCP after 10 Days with high RS_50~60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mean ROCP after 10 Days with high RS_60~70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mean ROCP after 10 Days with high RS_70~80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mean ROCP after 10 Days with high RS_80~90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mean ROCP after 10 Days with high RS_90~100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1560521"/>
                  </a:ext>
                </a:extLst>
              </a:tr>
              <a:tr h="24744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pullback to N_MA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53979403"/>
                  </a:ext>
                </a:extLst>
              </a:tr>
              <a:tr h="24744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-0.479954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-0.813640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-0.887093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-0.852437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-0.763735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-1.005088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-1.138289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-2.209944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02142440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-0.416662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-0.945934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-1.046684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-1.015810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-1.197023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-1.416278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-1.539545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-2.912530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645342973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effectLst/>
                        </a:rPr>
                        <a:t>0.0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-0.501280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-0.766305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-0.647210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-0.547927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-0.544834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-0.586981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-0.781929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effectLst/>
                        </a:rPr>
                        <a:t>-1.768325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60841992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0.000000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-0.501264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-0.766458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-1.020778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-1.509055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-1.965958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-2.202227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effectLst/>
                        </a:rPr>
                        <a:t>-2.257650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745296966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3A21CCB2-3ED0-5FCC-297A-364D2DD52B9C}"/>
              </a:ext>
            </a:extLst>
          </p:cNvPr>
          <p:cNvSpPr txBox="1"/>
          <p:nvPr/>
        </p:nvSpPr>
        <p:spPr>
          <a:xfrm>
            <a:off x="969818" y="727364"/>
            <a:ext cx="6694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拉回到</a:t>
            </a:r>
            <a:r>
              <a:rPr lang="en-US" altLang="zh-TW" dirty="0"/>
              <a:t>N_MA</a:t>
            </a:r>
            <a:r>
              <a:rPr lang="zh-TW" altLang="en-US" dirty="0"/>
              <a:t>買進後</a:t>
            </a:r>
            <a:r>
              <a:rPr lang="en-US" altLang="zh-TW" dirty="0"/>
              <a:t>10</a:t>
            </a:r>
            <a:r>
              <a:rPr lang="zh-TW" altLang="en-US" dirty="0"/>
              <a:t>天，不同</a:t>
            </a:r>
            <a:r>
              <a:rPr lang="en-US" altLang="zh-TW" dirty="0"/>
              <a:t>ERS250rate</a:t>
            </a:r>
            <a:r>
              <a:rPr lang="zh-TW" altLang="en-US" dirty="0"/>
              <a:t>區間股票累積漲跌幅</a:t>
            </a:r>
            <a:r>
              <a:rPr lang="en-US" altLang="zh-TW" dirty="0">
                <a:solidFill>
                  <a:srgbClr val="FF0000"/>
                </a:solidFill>
              </a:rPr>
              <a:t>1Q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910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04420-4AED-33DB-F275-DE63DF14B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5BCFF5E-21D8-5364-1502-E36338818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409830"/>
              </p:ext>
            </p:extLst>
          </p:nvPr>
        </p:nvGraphicFramePr>
        <p:xfrm>
          <a:off x="1163781" y="2310535"/>
          <a:ext cx="9652650" cy="2735009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965265">
                  <a:extLst>
                    <a:ext uri="{9D8B030D-6E8A-4147-A177-3AD203B41FA5}">
                      <a16:colId xmlns:a16="http://schemas.microsoft.com/office/drawing/2014/main" val="544998116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4000650120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4235922986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1713872374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677930697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649905291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1680225170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058208633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3372939430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823910701"/>
                    </a:ext>
                  </a:extLst>
                </a:gridCol>
              </a:tblGrid>
              <a:tr h="1007869">
                <a:tc>
                  <a:txBody>
                    <a:bodyPr/>
                    <a:lstStyle/>
                    <a:p>
                      <a:pPr algn="r" fontAlgn="ctr"/>
                      <a:endParaRPr lang="en-US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effectLst/>
                        </a:rPr>
                        <a:t>mean ROCP after 10 Days with high RS_10~20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mean ROCP after 10 Days with high RS_20~30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mean ROCP after 10 Days with high RS_30~40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mean ROCP after 10 Days with high RS_40~50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mean ROCP after 10 Days with high RS_50~60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mean ROCP after 10 Days with high RS_60~70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mean ROCP after 10 Days with high RS_70~80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mean ROCP after 10 Days with high RS_80~90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mean ROCP after 10 Days with high RS_90~100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1560521"/>
                  </a:ext>
                </a:extLst>
              </a:tr>
              <a:tr h="24744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pullback to N_MA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53979403"/>
                  </a:ext>
                </a:extLst>
              </a:tr>
              <a:tr h="24744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0.204137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0.422604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0.581234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0.437011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0.310049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0.000000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02142440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0.000000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0.195215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0.214448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0.002061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0.052144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-0.015042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645342973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0.443364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0.585105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0.718419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0.649470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0.616001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0.061163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60841992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0.000000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0.000000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0.000000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0.000000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0.000000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effectLst/>
                        </a:rPr>
                        <a:t>0.000000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745296966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EAFB921B-EBBE-685F-86D4-F19C9E9D58A2}"/>
              </a:ext>
            </a:extLst>
          </p:cNvPr>
          <p:cNvSpPr txBox="1"/>
          <p:nvPr/>
        </p:nvSpPr>
        <p:spPr>
          <a:xfrm>
            <a:off x="969818" y="727364"/>
            <a:ext cx="7387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拉回到</a:t>
            </a:r>
            <a:r>
              <a:rPr lang="en-US" altLang="zh-TW" dirty="0"/>
              <a:t>N_MA</a:t>
            </a:r>
            <a:r>
              <a:rPr lang="zh-TW" altLang="en-US" dirty="0"/>
              <a:t>買進後</a:t>
            </a:r>
            <a:r>
              <a:rPr lang="en-US" altLang="zh-TW" dirty="0"/>
              <a:t>10</a:t>
            </a:r>
            <a:r>
              <a:rPr lang="zh-TW" altLang="en-US" dirty="0"/>
              <a:t>天，不同</a:t>
            </a:r>
            <a:r>
              <a:rPr lang="en-US" altLang="zh-TW" dirty="0"/>
              <a:t>ERS250rate</a:t>
            </a:r>
            <a:r>
              <a:rPr lang="zh-TW" altLang="en-US" dirty="0"/>
              <a:t>區間股票累積漲跌幅</a:t>
            </a:r>
            <a:r>
              <a:rPr lang="zh-TW" altLang="en-US" dirty="0">
                <a:solidFill>
                  <a:srgbClr val="FF0000"/>
                </a:solidFill>
              </a:rPr>
              <a:t>中位數</a:t>
            </a:r>
          </a:p>
        </p:txBody>
      </p:sp>
    </p:spTree>
    <p:extLst>
      <p:ext uri="{BB962C8B-B14F-4D97-AF65-F5344CB8AC3E}">
        <p14:creationId xmlns:p14="http://schemas.microsoft.com/office/powerpoint/2010/main" val="2080197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54727-20AF-1783-00F3-48D959C05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040361A-1C4B-2F2E-FB52-33BB05B468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032829"/>
              </p:ext>
            </p:extLst>
          </p:nvPr>
        </p:nvGraphicFramePr>
        <p:xfrm>
          <a:off x="1163781" y="2310535"/>
          <a:ext cx="9652650" cy="2735009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965265">
                  <a:extLst>
                    <a:ext uri="{9D8B030D-6E8A-4147-A177-3AD203B41FA5}">
                      <a16:colId xmlns:a16="http://schemas.microsoft.com/office/drawing/2014/main" val="544998116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4000650120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4235922986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1713872374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677930697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649905291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1680225170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058208633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3372939430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823910701"/>
                    </a:ext>
                  </a:extLst>
                </a:gridCol>
              </a:tblGrid>
              <a:tr h="1007869">
                <a:tc>
                  <a:txBody>
                    <a:bodyPr/>
                    <a:lstStyle/>
                    <a:p>
                      <a:pPr algn="r" fontAlgn="ctr"/>
                      <a:endParaRPr lang="en-US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effectLst/>
                        </a:rPr>
                        <a:t>mean ROCP after 10 Days with high RS_10~20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mean ROCP after 10 Days with high RS_20~30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mean ROCP after 10 Days with high RS_30~40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mean ROCP after 10 Days with high RS_40~50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mean ROCP after 10 Days with high RS_50~60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mean ROCP after 10 Days with high RS_60~70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mean ROCP after 10 Days with high RS_70~80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mean ROCP after 10 Days with high RS_80~90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mean ROCP after 10 Days with high RS_90~100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1560521"/>
                  </a:ext>
                </a:extLst>
              </a:tr>
              <a:tr h="24744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pullback to N_MA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53979403"/>
                  </a:ext>
                </a:extLst>
              </a:tr>
              <a:tr h="24744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1.261033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1.890259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2.139911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2.110804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2.197281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2.110836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2.140906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1.976715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02142440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0.791332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1.636819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1.762445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1.691222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1.776770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1.922029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2.012843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1.707551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645342973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1.488797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2.202379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2.177494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2.251383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2.168898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2.166678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2.207903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1.986037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60841992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0.000000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effectLst/>
                        </a:rPr>
                        <a:t>0.898793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1.247767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1.487066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1.684585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1.457636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2.005260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effectLst/>
                        </a:rPr>
                        <a:t>1.283999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745296966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8D50BED9-0BD1-5D44-C753-9A9112372424}"/>
              </a:ext>
            </a:extLst>
          </p:cNvPr>
          <p:cNvSpPr txBox="1"/>
          <p:nvPr/>
        </p:nvSpPr>
        <p:spPr>
          <a:xfrm>
            <a:off x="969818" y="727364"/>
            <a:ext cx="6736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拉回到</a:t>
            </a:r>
            <a:r>
              <a:rPr lang="en-US" altLang="zh-TW" dirty="0"/>
              <a:t>N_MA</a:t>
            </a:r>
            <a:r>
              <a:rPr lang="zh-TW" altLang="en-US" dirty="0"/>
              <a:t>買進後</a:t>
            </a:r>
            <a:r>
              <a:rPr lang="en-US" altLang="zh-TW" dirty="0"/>
              <a:t>10</a:t>
            </a:r>
            <a:r>
              <a:rPr lang="zh-TW" altLang="en-US" dirty="0"/>
              <a:t>天，不同</a:t>
            </a:r>
            <a:r>
              <a:rPr lang="en-US" altLang="zh-TW" dirty="0"/>
              <a:t>ERS250rate</a:t>
            </a:r>
            <a:r>
              <a:rPr lang="zh-TW" altLang="en-US" dirty="0"/>
              <a:t>區間股票累積漲跌幅</a:t>
            </a:r>
            <a:r>
              <a:rPr lang="en-US" altLang="zh-TW" dirty="0">
                <a:solidFill>
                  <a:srgbClr val="FF0000"/>
                </a:solidFill>
              </a:rPr>
              <a:t>3Q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402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B5992-16C1-CB8E-B17E-8802D95DB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0A6B6C4-9DC6-C9C9-99C9-C31A697970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053848"/>
              </p:ext>
            </p:extLst>
          </p:nvPr>
        </p:nvGraphicFramePr>
        <p:xfrm>
          <a:off x="1163781" y="2310535"/>
          <a:ext cx="9652650" cy="2735009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965265">
                  <a:extLst>
                    <a:ext uri="{9D8B030D-6E8A-4147-A177-3AD203B41FA5}">
                      <a16:colId xmlns:a16="http://schemas.microsoft.com/office/drawing/2014/main" val="544998116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4000650120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4235922986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1713872374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677930697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649905291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1680225170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058208633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3372939430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823910701"/>
                    </a:ext>
                  </a:extLst>
                </a:gridCol>
              </a:tblGrid>
              <a:tr h="1007869"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mean ROCP after 10 Days with high RS_10~20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mean ROCP after 10 Days with high RS_20~30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mean ROCP after 10 Days with high RS_30~40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mean ROCP after 10 Days with high RS_40~50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mean ROCP after 10 Days with high RS_50~60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mean ROCP after 10 Days with high RS_60~70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mean ROCP after 10 Days with high RS_70~80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mean ROCP after 10 Days with high RS_80~90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mean ROCP after 10 Days with high RS_90~100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1560521"/>
                  </a:ext>
                </a:extLst>
              </a:tr>
              <a:tr h="24744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pullback to N_MA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53979403"/>
                  </a:ext>
                </a:extLst>
              </a:tr>
              <a:tr h="24744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0.539331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0.884132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0.926221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1.016608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1.061239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1.150135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0.978873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0.629844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-0.333161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02142440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0.354714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0.574453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0.755277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0.622875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0.649058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0.731823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0.568201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0.387490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-0.566959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645342973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0.560388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0.932271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1.144874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1.287964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1.278720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1.139134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1.004808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0.819571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-0.114247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60841992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0.137544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0.381055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0.448278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0.503979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0.560430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0.394614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0.250021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0.210243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effectLst/>
                        </a:rPr>
                        <a:t>-0.017154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745296966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3562A1D2-A6DE-332A-AAAE-FB02A4721B94}"/>
              </a:ext>
            </a:extLst>
          </p:cNvPr>
          <p:cNvSpPr txBox="1"/>
          <p:nvPr/>
        </p:nvSpPr>
        <p:spPr>
          <a:xfrm>
            <a:off x="969818" y="727364"/>
            <a:ext cx="6736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拉回到</a:t>
            </a:r>
            <a:r>
              <a:rPr lang="en-US" altLang="zh-TW" dirty="0"/>
              <a:t>N_MA</a:t>
            </a:r>
            <a:r>
              <a:rPr lang="zh-TW" altLang="en-US" dirty="0"/>
              <a:t>買進後</a:t>
            </a:r>
            <a:r>
              <a:rPr lang="en-US" altLang="zh-TW" dirty="0"/>
              <a:t>10</a:t>
            </a:r>
            <a:r>
              <a:rPr lang="zh-TW" altLang="en-US" dirty="0"/>
              <a:t>天，不同</a:t>
            </a:r>
            <a:r>
              <a:rPr lang="en-US" altLang="zh-TW" dirty="0"/>
              <a:t>ERS250rate</a:t>
            </a:r>
            <a:r>
              <a:rPr lang="zh-TW" altLang="en-US" dirty="0"/>
              <a:t>區間股票累積漲跌幅</a:t>
            </a:r>
            <a:r>
              <a:rPr lang="en-US" altLang="zh-TW" dirty="0">
                <a:solidFill>
                  <a:srgbClr val="FF0000"/>
                </a:solidFill>
              </a:rPr>
              <a:t>3Q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675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651</Words>
  <Application>Microsoft Office PowerPoint</Application>
  <PresentationFormat>寬螢幕</PresentationFormat>
  <Paragraphs>204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展碩 廖</dc:creator>
  <cp:lastModifiedBy>展碩 廖</cp:lastModifiedBy>
  <cp:revision>9</cp:revision>
  <dcterms:created xsi:type="dcterms:W3CDTF">2024-12-03T00:35:39Z</dcterms:created>
  <dcterms:modified xsi:type="dcterms:W3CDTF">2024-12-03T00:43:41Z</dcterms:modified>
</cp:coreProperties>
</file>